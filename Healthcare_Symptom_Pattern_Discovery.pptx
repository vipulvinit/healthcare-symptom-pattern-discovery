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70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A6E8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3657600"/>
            <a:ext cx="1097280" cy="109728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274320" y="2011680"/>
            <a:ext cx="731520" cy="731520"/>
          </a:xfrm>
          <a:prstGeom prst="ellipse">
            <a:avLst/>
          </a:prstGeom>
          <a:solidFill>
            <a:srgbClr val="E9C46A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26316"/>
            </a:avLst>
          </a:prstGeom>
          <a:solidFill>
            <a:srgbClr val="02C39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HEALTHCARE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Healthcare Symptom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Discovery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for Latent Symptom Group Detection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Hierarchical Clustering &amp; Gaussian Mixture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A4F6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Disease Symptom Dataset (Kaggle) • 4,920 records • 130 symptoms • 41 diseases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A3F5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4151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4,920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4114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A3F5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06040" y="4151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0604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4114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A3F5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4151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4114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A3F5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41513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4480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424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Disease Symptom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9659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19568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 per disease class)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8803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136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Symptom_1 to Symptom_17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130 unique symptoms total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785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diseases including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Diabetes, Malaria, Dengue…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251960" cy="1673352"/>
          </a:xfrm>
          <a:prstGeom prst="roundRect">
            <a:avLst>
              <a:gd name="adj" fmla="val 6000"/>
            </a:avLst>
          </a:prstGeom>
          <a:solidFill>
            <a:srgbClr val="065A82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344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 Format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1417320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E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 | Symptom_1    | Symptom_2  | …
Malaria  | chills       | vomiting   | …
Dengue   | skin_rash    | joint_pain | …
Diabetes | polyuria     | fatigue    | …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2983230"/>
            <a:ext cx="4251960" cy="1915341"/>
          </a:xfrm>
          <a:prstGeom prst="roundRect">
            <a:avLst>
              <a:gd name="adj" fmla="val 5854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470916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4930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56048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wide→long format (17 cols → 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84048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56048" y="3803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Standardise: lowercase, strip whitespace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1879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56048" y="4151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pivot: patient × symptom matrix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53542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56048" y="4498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engineered features: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gi_score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resp_score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skin_score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 &amp;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EAF5F7"/>
          </a:solidFill>
          <a:ln w="12700">
            <a:solidFill>
              <a:srgbClr val="C0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98755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4,920 × 130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patient-symptom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828800"/>
            <a:ext cx="146304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975104" y="96012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FFF8EC"/>
          </a:solidFill>
          <a:ln w="12700">
            <a:solidFill>
              <a:srgbClr val="C0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542032" y="98755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42032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29968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29968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clinical aggregate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(GI, Respiratory,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Skin, Pain…)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47872" y="1828800"/>
            <a:ext cx="146304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94176" y="96012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F0FFF4"/>
          </a:solidFill>
          <a:ln w="12700">
            <a:solidFill>
              <a:srgbClr val="C0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261104" y="98755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261104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49040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89% variance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collinearity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66944" y="1828800"/>
            <a:ext cx="146304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13248" y="96012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EAF5F7"/>
          </a:solidFill>
          <a:ln w="12700">
            <a:solidFill>
              <a:srgbClr val="C0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80176" y="98755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80176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Clustering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68112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Dendrogram-based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selection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86016" y="1828800"/>
            <a:ext cx="146304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132320" y="960120"/>
            <a:ext cx="1572768" cy="2011680"/>
          </a:xfrm>
          <a:prstGeom prst="roundRect">
            <a:avLst>
              <a:gd name="adj" fmla="val 6977"/>
            </a:avLst>
          </a:prstGeom>
          <a:solidFill>
            <a:srgbClr val="FFF0F0"/>
          </a:solidFill>
          <a:ln w="12700">
            <a:solidFill>
              <a:srgbClr val="C0D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699248" y="987552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699248" y="987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87184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Clustering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187184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</a:t>
            </a: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covariance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154680"/>
            <a:ext cx="8595360" cy="1783080"/>
          </a:xfrm>
          <a:prstGeom prst="roundRect">
            <a:avLst>
              <a:gd name="adj" fmla="val 7179"/>
            </a:avLst>
          </a:prstGeom>
          <a:solidFill>
            <a:srgbClr val="065A82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Evaluation Metrics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" y="35947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0A3F55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" y="3621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3977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vs separation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(↑ closer to 1 = better)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3584448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0A3F55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337560" y="3621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37560" y="3977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compactness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(↓ closer to 0 = better)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0760" y="3584448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0A3F55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72200" y="36210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72200" y="39776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disease labels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(post-hoc validation only)</a:t>
            </a:r>
            <a:endParaRPr lang="en-US" sz="9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69A1CA-B12D-EF87-82EB-6515769A4950}"/>
              </a:ext>
            </a:extLst>
          </p:cNvPr>
          <p:cNvSpPr txBox="1"/>
          <p:nvPr/>
        </p:nvSpPr>
        <p:spPr>
          <a:xfrm>
            <a:off x="1975104" y="3950050"/>
            <a:ext cx="826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0.852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E5E870-EFC5-323B-AC12-1FCA936728EB}"/>
              </a:ext>
            </a:extLst>
          </p:cNvPr>
          <p:cNvSpPr txBox="1"/>
          <p:nvPr/>
        </p:nvSpPr>
        <p:spPr>
          <a:xfrm>
            <a:off x="4859383" y="3950050"/>
            <a:ext cx="853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0.223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53212F-011D-6923-8341-AB30F6DB271C}"/>
              </a:ext>
            </a:extLst>
          </p:cNvPr>
          <p:cNvSpPr txBox="1"/>
          <p:nvPr/>
        </p:nvSpPr>
        <p:spPr>
          <a:xfrm>
            <a:off x="7708392" y="3949893"/>
            <a:ext cx="94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0.995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Cluster Interpretation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10896" y="1014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" y="10332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/ Jaundice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7282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yellowish_skin, dark_urine,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yellowing_of_eyes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14016" y="960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AF5F7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68880" y="1014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10332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05456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05456" y="17282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cough, breathlessness,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phlegm, chest_pain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26864" y="1014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🧫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02352" y="10332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17282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vomiting, diarrhoea,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stomach_pain, nausea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29984" y="9601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84848" y="1014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0336" y="10332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Dermatological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21424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21424" y="17282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itching, skin_rash,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nodal_skin_eruptions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7889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5F0FF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10896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86384" y="2862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5570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headache, dizziness,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loss_of_balance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14016" y="27889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6888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⚗️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944368" y="2862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/ Endocrine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05456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05456" y="35570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weight_loss,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polyuria, lethargy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7889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EAF5F7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26864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🦴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102352" y="2862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63440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35570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joint_pain, back_pain,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neck_pain, stiffness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29984" y="2788920"/>
            <a:ext cx="2011680" cy="164592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C5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784848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260336" y="286207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Febrile / Infectious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821424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symptoms: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21424" y="35570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high_fever, chills,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sweating, malaise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Considerations &amp; Societal Benefits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137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SOCIETAL BENEFITS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14538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14538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Stratification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17190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high-risk profiles before formal diagnosis enabling proactive care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23225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🩻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" y="232257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25877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differential-diagnosis context to clinicians during consultations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31912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" y="319125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Epidemiological Surveillance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345643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cluster shifts to detect emerging disease outbreaks early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AF5F7"/>
          </a:solidFill>
          <a:ln w="12700">
            <a:solidFill>
              <a:srgbClr val="C8E8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40599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" y="405993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Education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" y="432511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data-driven teaching material for symptom-disease pattern learning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93268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E6394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9160" y="9326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CONSIDERATIONS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5C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73168" y="14538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66944" y="14538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66944" y="17190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demographics may not represent all populations; clusters may not generalise equally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28600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5C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73168" y="23225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66944" y="232257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66944" y="258775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records are sensitive health data requiring HIPAA/GDPR compliance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15468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5C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73168" y="31912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🧑‍⚕️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66944" y="319125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Uncertainty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66944" y="345643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labels are inferences, not diagnoses — must not replace clinical judgment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402336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0F0"/>
          </a:solidFill>
          <a:ln w="12700">
            <a:solidFill>
              <a:srgbClr val="F5C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73168" y="40599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266944" y="405993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 Access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66944" y="432511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must reach low-resource settings; commercial barriers can widen health inequity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A6E8A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4A5C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&amp;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Binary + aggregate feature encoding effectively captures multi-symptom disease profiles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PCA retained 89%+ variance, enabling stable Ward linkage clustering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20370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 clinically meaningful health-risk categories identified from symptom data alone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3405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High silhouette score (0.85) confirms strong intra-cluster cohesion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644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Radar charts provide intuitive per-cluster clinical symptom signatures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1005840"/>
            <a:ext cx="3794760" cy="3063240"/>
          </a:xfrm>
          <a:prstGeom prst="roundRect">
            <a:avLst>
              <a:gd name="adj" fmla="val 4179"/>
            </a:avLst>
          </a:prstGeom>
          <a:solidFill>
            <a:srgbClr val="0A3F55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508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temporal or severity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12080" y="1920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Symptom subjectivity &amp; self-reporting bias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0" y="23317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Missing lab values and vitals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27432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Cluster boundaries sensitive to k choice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0" y="3154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PCA reduces per-feature explainability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0" y="3566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prospective clinical validation yet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251960"/>
            <a:ext cx="9144000" cy="877824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for noise detection  •  UMAP projection  •  Longitudinal clustering  •  SHAP explainability layer  •  Clinical validation study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8FBE31-7350-4CD5-8D13-29AEB5B88C1F}"/>
              </a:ext>
            </a:extLst>
          </p:cNvPr>
          <p:cNvSpPr txBox="1"/>
          <p:nvPr/>
        </p:nvSpPr>
        <p:spPr>
          <a:xfrm>
            <a:off x="841248" y="4617720"/>
            <a:ext cx="7741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Results  ·  Silhouette 0.852  ·  DB Index 0.223  ·  ARI 0.995  ·  41 Clusters  ·  Balanced (114–132 patients each)</a:t>
            </a:r>
            <a:endParaRPr lang="en-US" sz="1000" dirty="0"/>
          </a:p>
          <a:p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D03B9B-286B-9B15-7B8F-04838E5206F4}"/>
              </a:ext>
            </a:extLst>
          </p:cNvPr>
          <p:cNvSpPr txBox="1"/>
          <p:nvPr/>
        </p:nvSpPr>
        <p:spPr>
          <a:xfrm>
            <a:off x="1783080" y="4846320"/>
            <a:ext cx="54406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Binary Encoding → Feature Engineering → PCA (30D) → Ward HC + GMM (</a:t>
            </a:r>
            <a:r>
              <a:rPr lang="en-US" sz="800" b="1" dirty="0" err="1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</a:t>
            </a:r>
            <a:r>
              <a:rPr lang="en-US" sz="800" b="1" dirty="0">
                <a:solidFill>
                  <a:srgbClr val="A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Interpretation → Reporting</a:t>
            </a:r>
            <a:endParaRPr lang="en-US" sz="800" b="1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705</Words>
  <Application>Microsoft Office PowerPoint</Application>
  <PresentationFormat>On-screen Show (16:9)</PresentationFormat>
  <Paragraphs>176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Symptom Pattern Discovery</dc:title>
  <dc:subject>PptxGenJS Presentation</dc:subject>
  <dc:creator>PptxGenJS</dc:creator>
  <cp:lastModifiedBy>VIPUL VINIT</cp:lastModifiedBy>
  <cp:revision>5</cp:revision>
  <dcterms:created xsi:type="dcterms:W3CDTF">2026-03-12T05:59:20Z</dcterms:created>
  <dcterms:modified xsi:type="dcterms:W3CDTF">2026-03-24T17:30:37Z</dcterms:modified>
</cp:coreProperties>
</file>